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Performance Improvement Program</a:t>
            </a:r>
          </a:p>
          <a:p>
            <a:pPr>
              <a:defRPr sz="2300">
                <a:solidFill>
                  <a:srgbClr val="CDDCF0"/>
                </a:solidFill>
              </a:defRPr>
            </a:pPr>
            <a:r>
              <a:t>Delivery Partner Benefit &amp; Quality Framework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Strategy Case Study | Business Analyst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2120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Prepared by Ganga Ramya Sri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Performance Improvement Program  |  Ganga Ramya Sri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1.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A"/>
                </a:solidFill>
              </a:defRPr>
            </a:pPr>
            <a:r>
              <a:t>Translate operational needs into a simple, measurable program.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461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A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81912"/>
            <a:ext cx="2916936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A60A0"/>
                </a:solidFill>
              </a:defRPr>
            </a:pPr>
            <a:r>
              <a:t>36,313</a:t>
            </a:r>
          </a:p>
          <a:p>
            <a:pPr>
              <a:defRPr sz="1000">
                <a:solidFill>
                  <a:srgbClr val="2D323C"/>
                </a:solidFill>
              </a:defRPr>
            </a:pPr>
            <a:r>
              <a:t>Partner-day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2461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A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2916936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A60A0"/>
                </a:solidFill>
              </a:defRPr>
            </a:pPr>
            <a:r>
              <a:t>3,553</a:t>
            </a:r>
          </a:p>
          <a:p>
            <a:pPr>
              <a:defRPr sz="1000">
                <a:solidFill>
                  <a:srgbClr val="2D323C"/>
                </a:solidFill>
              </a:defRPr>
            </a:pPr>
            <a:r>
              <a:t>Partner quality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2461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A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9871" y="1581912"/>
            <a:ext cx="2916936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A60A0"/>
                </a:solidFill>
              </a:defRPr>
            </a:pPr>
            <a:r>
              <a:t>₹0.90</a:t>
            </a:r>
          </a:p>
          <a:p>
            <a:pPr>
              <a:defRPr sz="1000">
                <a:solidFill>
                  <a:srgbClr val="2D323C"/>
                </a:solidFill>
              </a:defRPr>
            </a:pPr>
            <a:r>
              <a:t>Maximum CPT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323C"/>
                </a:solidFill>
              </a:defRPr>
            </a:pPr>
            <a:r>
              <a:t>• Increase delivery-partner availability without creating excessive incentive cost.</a:t>
            </a:r>
          </a:p>
          <a:p>
            <a:pPr>
              <a:spcAft>
                <a:spcPts val="1200"/>
              </a:spcAft>
              <a:defRPr sz="1700">
                <a:solidFill>
                  <a:srgbClr val="2D323C"/>
                </a:solidFill>
              </a:defRPr>
            </a:pPr>
            <a:r>
              <a:t>• Prioritize supply on Sunday and Monday, followed by Friday and Saturday.</a:t>
            </a:r>
          </a:p>
          <a:p>
            <a:pPr>
              <a:spcAft>
                <a:spcPts val="1200"/>
              </a:spcAft>
              <a:defRPr sz="1700">
                <a:solidFill>
                  <a:srgbClr val="2D323C"/>
                </a:solidFill>
              </a:defRPr>
            </a:pPr>
            <a:r>
              <a:t>• Encourage consistent availability throughout the week rather than weekend-only participation.</a:t>
            </a:r>
          </a:p>
          <a:p>
            <a:pPr>
              <a:spcAft>
                <a:spcPts val="1200"/>
              </a:spcAft>
              <a:defRPr sz="1700">
                <a:solidFill>
                  <a:srgbClr val="2D323C"/>
                </a:solidFill>
              </a:defRPr>
            </a:pPr>
            <a:r>
              <a:t>• Identify low-performing partners and provide structured retraining before stronger corrective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Performance Improvement Program  |  Ganga Ramya Sri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2.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A"/>
                </a:solidFill>
              </a:defRPr>
            </a:pPr>
            <a:r>
              <a:t>A two-part framework: incentivize availability, then protect service quality.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7492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2A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48056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A60A0"/>
                </a:solidFill>
              </a:defRPr>
            </a:pPr>
            <a:r>
              <a:t>PART 1 | SUPPLY</a:t>
            </a:r>
          </a:p>
          <a:p>
            <a:pPr>
              <a:spcAft>
                <a:spcPts val="900"/>
              </a:spcAft>
              <a:defRPr sz="1500">
                <a:solidFill>
                  <a:srgbClr val="2D323C"/>
                </a:solidFill>
              </a:defRPr>
            </a:pPr>
            <a:r>
              <a:t>• Supply-hour points</a:t>
            </a:r>
          </a:p>
          <a:p>
            <a:pPr>
              <a:spcAft>
                <a:spcPts val="900"/>
              </a:spcAft>
              <a:defRPr sz="1500">
                <a:solidFill>
                  <a:srgbClr val="2D323C"/>
                </a:solidFill>
              </a:defRPr>
            </a:pPr>
            <a:r>
              <a:t>• + demand multipliers</a:t>
            </a:r>
          </a:p>
          <a:p>
            <a:pPr>
              <a:spcAft>
                <a:spcPts val="900"/>
              </a:spcAft>
              <a:defRPr sz="1500">
                <a:solidFill>
                  <a:srgbClr val="2D323C"/>
                </a:solidFill>
              </a:defRPr>
            </a:pPr>
            <a:r>
              <a:t>• + consistency bonus</a:t>
            </a:r>
          </a:p>
          <a:p>
            <a:pPr>
              <a:spcAft>
                <a:spcPts val="900"/>
              </a:spcAft>
              <a:defRPr sz="1500">
                <a:solidFill>
                  <a:srgbClr val="2D323C"/>
                </a:solidFill>
              </a:defRPr>
            </a:pPr>
            <a:r>
              <a:t>• + CPT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08760"/>
            <a:ext cx="507492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27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48056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7D57"/>
                </a:solidFill>
              </a:defRPr>
            </a:pPr>
            <a:r>
              <a:t>PART 2 | QUALITY</a:t>
            </a:r>
          </a:p>
          <a:p>
            <a:pPr>
              <a:spcAft>
                <a:spcPts val="900"/>
              </a:spcAft>
              <a:defRPr sz="1500">
                <a:solidFill>
                  <a:srgbClr val="2D323C"/>
                </a:solidFill>
              </a:defRPr>
            </a:pPr>
            <a:r>
              <a:t>• 100-point scorecard</a:t>
            </a:r>
          </a:p>
          <a:p>
            <a:pPr>
              <a:spcAft>
                <a:spcPts val="900"/>
              </a:spcAft>
              <a:defRPr sz="1500">
                <a:solidFill>
                  <a:srgbClr val="2D323C"/>
                </a:solidFill>
              </a:defRPr>
            </a:pPr>
            <a:r>
              <a:t>• + thresholds</a:t>
            </a:r>
          </a:p>
          <a:p>
            <a:pPr>
              <a:spcAft>
                <a:spcPts val="900"/>
              </a:spcAft>
              <a:defRPr sz="1500">
                <a:solidFill>
                  <a:srgbClr val="2D323C"/>
                </a:solidFill>
              </a:defRPr>
            </a:pPr>
            <a:r>
              <a:t>• + partner buckets</a:t>
            </a:r>
          </a:p>
          <a:p>
            <a:pPr>
              <a:spcAft>
                <a:spcPts val="900"/>
              </a:spcAft>
              <a:defRPr sz="1500">
                <a:solidFill>
                  <a:srgbClr val="2D323C"/>
                </a:solidFill>
              </a:defRPr>
            </a:pPr>
            <a:r>
              <a:t>• + progressive retraining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Performance Improvement Program  |  Ganga Ramya Sri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3. Proposed Benefit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A"/>
                </a:solidFill>
              </a:defRPr>
            </a:pPr>
            <a:r>
              <a:t>Keep the rule simple enough for partners to understand immediately.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51206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62179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Daily Supply Hours</a:t>
                      </a:r>
                    </a:p>
                  </a:txBody>
                  <a:tcPr marL="64008" marR="64008"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Base Points</a:t>
                      </a:r>
                    </a:p>
                  </a:txBody>
                  <a:tcPr marL="64008" marR="64008">
                    <a:solidFill>
                      <a:srgbClr val="16233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23C"/>
                          </a:solidFill>
                        </a:defRPr>
                      </a:pPr>
                      <a:r>
                        <a:t>&lt; 4 hours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23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23C"/>
                          </a:solidFill>
                        </a:defRPr>
                      </a:pPr>
                      <a:r>
                        <a:t>4–&lt; 8 hours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23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23C"/>
                          </a:solidFill>
                        </a:defRPr>
                      </a:pPr>
                      <a:r>
                        <a:t>8–&lt; 12 hours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23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23C"/>
                          </a:solidFill>
                        </a:defRPr>
                      </a:pPr>
                      <a:r>
                        <a:t>12+ hours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23C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63640" y="1325880"/>
          <a:ext cx="5120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Day</a:t>
                      </a:r>
                    </a:p>
                  </a:txBody>
                  <a:tcPr marL="64008" marR="64008"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Multiplier</a:t>
                      </a:r>
                    </a:p>
                  </a:txBody>
                  <a:tcPr marL="64008" marR="64008">
                    <a:solidFill>
                      <a:srgbClr val="16233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23C"/>
                          </a:solidFill>
                        </a:defRPr>
                      </a:pPr>
                      <a:r>
                        <a:t>Sunday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23C"/>
                          </a:solidFill>
                        </a:defRPr>
                      </a:pPr>
                      <a:r>
                        <a:t>1.50×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23C"/>
                          </a:solidFill>
                        </a:defRPr>
                      </a:pPr>
                      <a:r>
                        <a:t>Monday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23C"/>
                          </a:solidFill>
                        </a:defRPr>
                      </a:pPr>
                      <a:r>
                        <a:t>1.50×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23C"/>
                          </a:solidFill>
                        </a:defRPr>
                      </a:pPr>
                      <a:r>
                        <a:t>Friday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23C"/>
                          </a:solidFill>
                        </a:defRPr>
                      </a:pPr>
                      <a:r>
                        <a:t>1.25×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23C"/>
                          </a:solidFill>
                        </a:defRPr>
                      </a:pPr>
                      <a:r>
                        <a:t>Saturday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23C"/>
                          </a:solidFill>
                        </a:defRPr>
                      </a:pPr>
                      <a:r>
                        <a:t>1.25×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23C"/>
                          </a:solidFill>
                        </a:defRPr>
                      </a:pPr>
                      <a:r>
                        <a:t>Tue–Thu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23C"/>
                          </a:solidFill>
                        </a:defRPr>
                      </a:pPr>
                      <a:r>
                        <a:t>1.00×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474720" y="5166360"/>
            <a:ext cx="521208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2A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5330952"/>
            <a:ext cx="4882896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A60A0"/>
                </a:solidFill>
              </a:defRPr>
            </a:pPr>
            <a:r>
              <a:t>10 points</a:t>
            </a:r>
          </a:p>
          <a:p>
            <a:pPr>
              <a:defRPr sz="1000">
                <a:solidFill>
                  <a:srgbClr val="2D323C"/>
                </a:solidFill>
              </a:defRPr>
            </a:pPr>
            <a:r>
              <a:t>Weekly consistency bonus for 5+ active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Performance Improvement Program  |  Ganga Ramya Sri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4. How the Incentive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A"/>
                </a:solidFill>
              </a:defRPr>
            </a:pPr>
            <a:r>
              <a:t>One transparent calculation with a fixed point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2918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A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581912"/>
            <a:ext cx="2962656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A60A0"/>
                </a:solidFill>
              </a:defRPr>
            </a:pPr>
            <a:r>
              <a:t>₹0.50</a:t>
            </a:r>
          </a:p>
          <a:p>
            <a:pPr>
              <a:defRPr sz="1000">
                <a:solidFill>
                  <a:srgbClr val="2D323C"/>
                </a:solidFill>
              </a:defRPr>
            </a:pPr>
            <a:r>
              <a:t>Value per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2918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A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1581912"/>
            <a:ext cx="2962656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A60A0"/>
                </a:solidFill>
              </a:defRPr>
            </a:pPr>
            <a:r>
              <a:t>12</a:t>
            </a:r>
          </a:p>
          <a:p>
            <a:pPr>
              <a:defRPr sz="1000">
                <a:solidFill>
                  <a:srgbClr val="2D323C"/>
                </a:solidFill>
              </a:defRPr>
            </a:pPr>
            <a:r>
              <a:t>Maximum base points/day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417320"/>
            <a:ext cx="32918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581912"/>
            <a:ext cx="2962656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D822D"/>
                </a:solidFill>
              </a:defRPr>
            </a:pPr>
            <a:r>
              <a:t>1.50×</a:t>
            </a:r>
          </a:p>
          <a:p>
            <a:pPr>
              <a:defRPr sz="1000">
                <a:solidFill>
                  <a:srgbClr val="2D323C"/>
                </a:solidFill>
              </a:defRPr>
            </a:pPr>
            <a:r>
              <a:t>Peak-day multiplier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10424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23C"/>
                </a:solidFill>
              </a:defRPr>
            </a:pPr>
            <a:r>
              <a:t>• Daily Points = Base Points × Day Multiplier</a:t>
            </a:r>
          </a:p>
          <a:p>
            <a:pPr>
              <a:spcAft>
                <a:spcPts val="1200"/>
              </a:spcAft>
              <a:defRPr sz="1600">
                <a:solidFill>
                  <a:srgbClr val="2D323C"/>
                </a:solidFill>
              </a:defRPr>
            </a:pPr>
            <a:r>
              <a:t>• Example: 9 hours on Sunday → 8 × 1.5 = 12 points = ₹6.</a:t>
            </a:r>
          </a:p>
          <a:p>
            <a:pPr>
              <a:spcAft>
                <a:spcPts val="1200"/>
              </a:spcAft>
              <a:defRPr sz="1600">
                <a:solidFill>
                  <a:srgbClr val="2D323C"/>
                </a:solidFill>
              </a:defRPr>
            </a:pPr>
            <a:r>
              <a:t>• Example: 13 hours on Monday → 12 × 1.5 = 18 points = ₹9.</a:t>
            </a:r>
          </a:p>
          <a:p>
            <a:pPr>
              <a:spcAft>
                <a:spcPts val="1200"/>
              </a:spcAft>
              <a:defRPr sz="1600">
                <a:solidFill>
                  <a:srgbClr val="2D323C"/>
                </a:solidFill>
              </a:defRPr>
            </a:pPr>
            <a:r>
              <a:t>• Partners active on 5+ days in a week receive an additional 10 points.</a:t>
            </a:r>
          </a:p>
          <a:p>
            <a:pPr>
              <a:spcAft>
                <a:spcPts val="1200"/>
              </a:spcAft>
              <a:defRPr sz="1600">
                <a:solidFill>
                  <a:srgbClr val="2D323C"/>
                </a:solidFill>
              </a:defRPr>
            </a:pPr>
            <a:r>
              <a:t>• Design intent: reward incremental availability without making the program difficult to explain.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Performance Improvement Program  |  Ganga Ramya Sri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5. Budget &amp; CPT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A"/>
                </a:solidFill>
              </a:defRPr>
            </a:pPr>
            <a:r>
              <a:t>The model remains below the required ₹0.90 CPT ceiling.</a:t>
            </a:r>
          </a:p>
        </p:txBody>
      </p:sp>
      <p:pic>
        <p:nvPicPr>
          <p:cNvPr id="5" name="Picture 4" descr="monthly_cpt_vs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760720" cy="324040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20840" y="1463040"/>
          <a:ext cx="47548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67665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marL="64008" marR="64008"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Tasks</a:t>
                      </a:r>
                    </a:p>
                  </a:txBody>
                  <a:tcPr marL="64008" marR="64008"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Incentive Cost</a:t>
                      </a:r>
                    </a:p>
                  </a:txBody>
                  <a:tcPr marL="64008" marR="64008"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CPT</a:t>
                      </a:r>
                    </a:p>
                  </a:txBody>
                  <a:tcPr marL="64008" marR="64008">
                    <a:solidFill>
                      <a:srgbClr val="162337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2019-01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86,825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₹29,304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₹0.338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2019-02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103,865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₹36,263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₹0.349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2019-03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112,178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₹41,928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₹0.374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2019-04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119,677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₹40,290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₹0.337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20840" y="5166360"/>
            <a:ext cx="224028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27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1" y="5330952"/>
            <a:ext cx="1911096" cy="53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77D57"/>
                </a:solidFill>
              </a:defRPr>
            </a:pPr>
            <a:r>
              <a:t>₹0.350</a:t>
            </a:r>
          </a:p>
          <a:p>
            <a:pPr>
              <a:defRPr sz="1000">
                <a:solidFill>
                  <a:srgbClr val="2D323C"/>
                </a:solidFill>
              </a:defRPr>
            </a:pPr>
            <a:r>
              <a:t>Overall CPT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5166360"/>
            <a:ext cx="224028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27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00032" y="5330952"/>
            <a:ext cx="1911096" cy="53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77D57"/>
                </a:solidFill>
              </a:defRPr>
            </a:pPr>
            <a:r>
              <a:t>₹0.374</a:t>
            </a:r>
          </a:p>
          <a:p>
            <a:pPr>
              <a:defRPr sz="1000">
                <a:solidFill>
                  <a:srgbClr val="2D323C"/>
                </a:solidFill>
              </a:defRPr>
            </a:pPr>
            <a:r>
              <a:t>Max monthly CPT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Performance Improvement Program  |  Ganga Ramya Sri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6. Partner Quality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A"/>
                </a:solidFill>
              </a:defRPr>
            </a:pPr>
            <a:r>
              <a:t>Balance productivity, reliability, efficiency and customer experience.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234440"/>
          <a:ext cx="6675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040"/>
                <a:gridCol w="2225040"/>
                <a:gridCol w="2225040"/>
              </a:tblGrid>
              <a:tr h="538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64008" marR="64008"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 marL="64008" marR="64008"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 marL="64008" marR="64008">
                    <a:solidFill>
                      <a:srgbClr val="162337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Acceptance Rate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≥ 90%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Cancellation Rate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≤ 2%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Tasks Not Delivered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≤ 1%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Partner Cancellation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≤ 1%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Task Time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≤ 45 min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Interaction Rate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≤ 40%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Contact Rate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≤ 15%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Rating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23C"/>
                          </a:solidFill>
                        </a:defRPr>
                      </a:pPr>
                      <a:r>
                        <a:t>≥ 4.7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09560" y="1508760"/>
            <a:ext cx="320040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27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74152" y="1673351"/>
            <a:ext cx="2871216" cy="722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77D57"/>
                </a:solidFill>
              </a:defRPr>
            </a:pPr>
            <a:r>
              <a:t>100</a:t>
            </a:r>
          </a:p>
          <a:p>
            <a:pPr>
              <a:defRPr sz="1000">
                <a:solidFill>
                  <a:srgbClr val="2D323C"/>
                </a:solidFill>
              </a:defRPr>
            </a:pPr>
            <a:r>
              <a:t>Total quality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88036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D323C"/>
                </a:solidFill>
              </a:defRPr>
            </a:pPr>
            <a:r>
              <a:t>• High weights are assigned to reliability and customer-facing outcomes.</a:t>
            </a:r>
          </a:p>
          <a:p>
            <a:pPr>
              <a:spcAft>
                <a:spcPts val="1200"/>
              </a:spcAft>
              <a:defRPr sz="1400">
                <a:solidFill>
                  <a:srgbClr val="2D323C"/>
                </a:solidFill>
              </a:defRPr>
            </a:pPr>
            <a:r>
              <a:t>• Thresholds create an explainable screening mechanism.</a:t>
            </a:r>
          </a:p>
          <a:p>
            <a:pPr>
              <a:spcAft>
                <a:spcPts val="1200"/>
              </a:spcAft>
              <a:defRPr sz="1400">
                <a:solidFill>
                  <a:srgbClr val="2D323C"/>
                </a:solidFill>
              </a:defRPr>
            </a:pPr>
            <a:r>
              <a:t>• Partners are evaluated across multiple dimensions rather than a single KPI.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Performance Improvement Program  |  Ganga Ramya Sri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7. Partner Segmentation &amp; Retraining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A"/>
                </a:solidFill>
              </a:defRPr>
            </a:pPr>
            <a:r>
              <a:t>Turn the score into clear operational actions.</a:t>
            </a:r>
          </a:p>
        </p:txBody>
      </p:sp>
      <p:pic>
        <p:nvPicPr>
          <p:cNvPr id="5" name="Picture 4" descr="partner_quality_bu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212080" cy="29317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417320"/>
            <a:ext cx="21031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27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581912"/>
            <a:ext cx="1773936" cy="722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77D57"/>
                </a:solidFill>
              </a:defRPr>
            </a:pPr>
            <a:r>
              <a:t>≥85</a:t>
            </a:r>
          </a:p>
          <a:p>
            <a:pPr>
              <a:defRPr sz="1000">
                <a:solidFill>
                  <a:srgbClr val="2D323C"/>
                </a:solidFill>
              </a:defRPr>
            </a:pPr>
            <a:r>
              <a:t>Gold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417320"/>
            <a:ext cx="21031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2A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1581912"/>
            <a:ext cx="1773936" cy="722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A60A0"/>
                </a:solidFill>
              </a:defRPr>
            </a:pPr>
            <a:r>
              <a:t>70–84</a:t>
            </a:r>
          </a:p>
          <a:p>
            <a:pPr>
              <a:defRPr sz="1000">
                <a:solidFill>
                  <a:srgbClr val="2D323C"/>
                </a:solidFill>
              </a:defRPr>
            </a:pPr>
            <a:r>
              <a:t>Silver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45262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907792"/>
            <a:ext cx="4197096" cy="722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D822D"/>
                </a:solidFill>
              </a:defRPr>
            </a:pPr>
            <a:r>
              <a:t>&lt;70</a:t>
            </a:r>
          </a:p>
          <a:p>
            <a:pPr>
              <a:defRPr sz="1000">
                <a:solidFill>
                  <a:srgbClr val="2D323C"/>
                </a:solidFill>
              </a:defRPr>
            </a:pPr>
            <a:r>
              <a:t>Retraining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D323C"/>
                </a:solidFill>
              </a:defRPr>
            </a:pPr>
            <a:r>
              <a:t>• First event → root-cause analysis + targeted refresher training + 1-week monitoring.</a:t>
            </a:r>
          </a:p>
          <a:p>
            <a:pPr>
              <a:spcAft>
                <a:spcPts val="1200"/>
              </a:spcAft>
              <a:defRPr sz="1300">
                <a:solidFill>
                  <a:srgbClr val="2D323C"/>
                </a:solidFill>
              </a:defRPr>
            </a:pPr>
            <a:r>
              <a:t>• Second event → one-to-one coaching + 2-week improvement plan.</a:t>
            </a:r>
          </a:p>
          <a:p>
            <a:pPr>
              <a:spcAft>
                <a:spcPts val="1200"/>
              </a:spcAft>
              <a:defRPr sz="1300">
                <a:solidFill>
                  <a:srgbClr val="2D323C"/>
                </a:solidFill>
              </a:defRPr>
            </a:pPr>
            <a:r>
              <a:t>• Third event → formal PIP + manager review.</a:t>
            </a:r>
          </a:p>
          <a:p>
            <a:pPr>
              <a:spcAft>
                <a:spcPts val="1200"/>
              </a:spcAft>
              <a:defRPr sz="1300">
                <a:solidFill>
                  <a:srgbClr val="2D323C"/>
                </a:solidFill>
              </a:defRPr>
            </a:pPr>
            <a:r>
              <a:t>• Repeated failure → operational/contract review according to company policy.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Performance Improvement Program  |  Ganga Ramya Sri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8. Risks, Controls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A"/>
                </a:solidFill>
              </a:defRPr>
            </a:pPr>
            <a:r>
              <a:t>Monitor the program continuously rather than treating it as a one-time launch.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67665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 marL="64008" marR="64008"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 marL="64008" marR="64008">
                    <a:solidFill>
                      <a:srgbClr val="162337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Weekend-only optimization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Weekly consistency bonus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Incentive overspend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Monthly CPT monitoring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Gaming of supply hours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Validate hours against operational activity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Low-quality partners earning rewards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Quality eligibility / scorecard</a:t>
                      </a:r>
                    </a:p>
                  </a:txBody>
                  <a:tcPr marL="64008" marR="64008">
                    <a:solidFill>
                      <a:srgbClr val="F2F6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Unfair retraining decisions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23C"/>
                          </a:solidFill>
                        </a:defRPr>
                      </a:pPr>
                      <a:r>
                        <a:t>Transparent metric-level scoring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18120" y="15544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D323C"/>
                </a:solidFill>
              </a:defRPr>
            </a:pPr>
            <a:r>
              <a:t>• Weekly: supply coverage, quality and retraining candidates.</a:t>
            </a:r>
          </a:p>
          <a:p>
            <a:pPr>
              <a:spcAft>
                <a:spcPts val="1200"/>
              </a:spcAft>
              <a:defRPr sz="1400">
                <a:solidFill>
                  <a:srgbClr val="2D323C"/>
                </a:solidFill>
              </a:defRPr>
            </a:pPr>
            <a:r>
              <a:t>• Monthly: CPT, incentive ROI and partner behavior.</a:t>
            </a:r>
          </a:p>
          <a:p>
            <a:pPr>
              <a:spcAft>
                <a:spcPts val="1200"/>
              </a:spcAft>
              <a:defRPr sz="1400">
                <a:solidFill>
                  <a:srgbClr val="2D323C"/>
                </a:solidFill>
              </a:defRPr>
            </a:pPr>
            <a:r>
              <a:t>• Quarterly: recalibrate point values and thresholds based on observed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Performance Improvement Program  |  Ganga Ramya Sri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9. Final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D323C"/>
                </a:solidFill>
              </a:defRPr>
            </a:pPr>
            <a:r>
              <a:t>• Implement the simple supply-hour points program with demand-based multipliers.</a:t>
            </a:r>
          </a:p>
          <a:p>
            <a:pPr>
              <a:spcAft>
                <a:spcPts val="1200"/>
              </a:spcAft>
              <a:defRPr sz="1900">
                <a:solidFill>
                  <a:srgbClr val="2D323C"/>
                </a:solidFill>
              </a:defRPr>
            </a:pPr>
            <a:r>
              <a:t>• Use the weekly consistency bonus to create balanced availability across the week.</a:t>
            </a:r>
          </a:p>
          <a:p>
            <a:pPr>
              <a:spcAft>
                <a:spcPts val="1200"/>
              </a:spcAft>
              <a:defRPr sz="1900">
                <a:solidFill>
                  <a:srgbClr val="2D323C"/>
                </a:solidFill>
              </a:defRPr>
            </a:pPr>
            <a:r>
              <a:t>• Track CPT monthly and keep the incentive model below the ₹0.90 ceiling.</a:t>
            </a:r>
          </a:p>
          <a:p>
            <a:pPr>
              <a:spcAft>
                <a:spcPts val="1200"/>
              </a:spcAft>
              <a:defRPr sz="1900">
                <a:solidFill>
                  <a:srgbClr val="2D323C"/>
                </a:solidFill>
              </a:defRPr>
            </a:pPr>
            <a:r>
              <a:t>• Deploy the 100-point quality scorecard to protect customer experience.</a:t>
            </a:r>
          </a:p>
          <a:p>
            <a:pPr>
              <a:spcAft>
                <a:spcPts val="1200"/>
              </a:spcAft>
              <a:defRPr sz="1900">
                <a:solidFill>
                  <a:srgbClr val="2D323C"/>
                </a:solidFill>
              </a:defRPr>
            </a:pPr>
            <a:r>
              <a:t>• Use progressive retraining so partners have a structured path to 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440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DDCF0"/>
                </a:solidFill>
              </a:defRPr>
            </a:pPr>
            <a:r>
              <a:t>SUPPLY  +  COST  +  QUALITY  +  CUSTOMER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Performance Improvement Program  |  Ganga Ramya Sri  |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